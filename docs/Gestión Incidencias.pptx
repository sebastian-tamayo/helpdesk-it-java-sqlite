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14"/>
  </p:notesMasterIdLst>
  <p:sldIdLst>
    <p:sldId id="264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6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7F50-8E25-4D87-A14E-57B80FB45AC4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D3F5-F238-482C-AC8A-9CF59ACEDB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34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0066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057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1103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470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206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7238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232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5031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313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4885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3D3F5-F238-482C-AC8A-9CF59ACEDB94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8821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08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530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143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238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67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583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228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250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6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17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8422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157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137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8045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235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949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805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34A1E5A-B7CD-4FB6-A8B7-72CC676055F8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D16EA4-F8E2-4ED5-BF71-41027DFE9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783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2" y="4856145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1227908" y="1088571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  <a:p>
            <a:r>
              <a:rPr lang="es-ES" sz="2800" b="1" dirty="0" smtClean="0">
                <a:solidFill>
                  <a:schemeClr val="tx1"/>
                </a:solidFill>
              </a:rPr>
              <a:t>Sebastián Olaya Tamayo</a:t>
            </a:r>
          </a:p>
          <a:p>
            <a:r>
              <a:rPr lang="es-ES" sz="2800" b="1" dirty="0" smtClean="0">
                <a:solidFill>
                  <a:schemeClr val="tx1"/>
                </a:solidFill>
              </a:rPr>
              <a:t>Gestión Incidencias</a:t>
            </a:r>
          </a:p>
          <a:p>
            <a:r>
              <a:rPr lang="es-ES" sz="2800" b="1" dirty="0" smtClean="0">
                <a:solidFill>
                  <a:schemeClr val="tx1"/>
                </a:solidFill>
              </a:rPr>
              <a:t>José </a:t>
            </a:r>
            <a:r>
              <a:rPr lang="es-ES" sz="2800" b="1" dirty="0">
                <a:solidFill>
                  <a:schemeClr val="tx1"/>
                </a:solidFill>
              </a:rPr>
              <a:t>Ángel Benítez </a:t>
            </a:r>
          </a:p>
          <a:p>
            <a:r>
              <a:rPr lang="es-ES" sz="2800" b="1" dirty="0" smtClean="0">
                <a:solidFill>
                  <a:schemeClr val="tx1"/>
                </a:solidFill>
              </a:rPr>
              <a:t>Curso 2025-2026</a:t>
            </a:r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261949" y="765405"/>
            <a:ext cx="553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Presentación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382250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96834" y="5379327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/>
          <p:cNvSpPr txBox="1"/>
          <p:nvPr/>
        </p:nvSpPr>
        <p:spPr>
          <a:xfrm>
            <a:off x="1752858" y="0"/>
            <a:ext cx="553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 </a:t>
            </a:r>
            <a:r>
              <a:rPr lang="es-ES" sz="3600" b="1" dirty="0"/>
              <a:t>Introducción</a:t>
            </a:r>
            <a:r>
              <a:rPr lang="es-ES" dirty="0"/>
              <a:t> </a:t>
            </a:r>
            <a:endParaRPr lang="es-ES" sz="36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858" y="1466932"/>
            <a:ext cx="7578376" cy="3871649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824009" y="791443"/>
            <a:ext cx="2986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Motivación y Objetivos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9323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-813663" y="6088559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936" y="1"/>
            <a:ext cx="2299063" cy="8447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1227908" y="1088571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588867" y="129275"/>
            <a:ext cx="553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Estado del Arte 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91279"/>
              </p:ext>
            </p:extLst>
          </p:nvPr>
        </p:nvGraphicFramePr>
        <p:xfrm>
          <a:off x="87086" y="731444"/>
          <a:ext cx="9866813" cy="50858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4469">
                  <a:extLst>
                    <a:ext uri="{9D8B030D-6E8A-4147-A177-3AD203B41FA5}">
                      <a16:colId xmlns:a16="http://schemas.microsoft.com/office/drawing/2014/main" val="3165790246"/>
                    </a:ext>
                  </a:extLst>
                </a:gridCol>
                <a:gridCol w="1644469">
                  <a:extLst>
                    <a:ext uri="{9D8B030D-6E8A-4147-A177-3AD203B41FA5}">
                      <a16:colId xmlns:a16="http://schemas.microsoft.com/office/drawing/2014/main" val="1007271968"/>
                    </a:ext>
                  </a:extLst>
                </a:gridCol>
                <a:gridCol w="1091473">
                  <a:extLst>
                    <a:ext uri="{9D8B030D-6E8A-4147-A177-3AD203B41FA5}">
                      <a16:colId xmlns:a16="http://schemas.microsoft.com/office/drawing/2014/main" val="288289501"/>
                    </a:ext>
                  </a:extLst>
                </a:gridCol>
                <a:gridCol w="1166948">
                  <a:extLst>
                    <a:ext uri="{9D8B030D-6E8A-4147-A177-3AD203B41FA5}">
                      <a16:colId xmlns:a16="http://schemas.microsoft.com/office/drawing/2014/main" val="1462782915"/>
                    </a:ext>
                  </a:extLst>
                </a:gridCol>
                <a:gridCol w="1785257">
                  <a:extLst>
                    <a:ext uri="{9D8B030D-6E8A-4147-A177-3AD203B41FA5}">
                      <a16:colId xmlns:a16="http://schemas.microsoft.com/office/drawing/2014/main" val="1878880400"/>
                    </a:ext>
                  </a:extLst>
                </a:gridCol>
                <a:gridCol w="2534197">
                  <a:extLst>
                    <a:ext uri="{9D8B030D-6E8A-4147-A177-3AD203B41FA5}">
                      <a16:colId xmlns:a16="http://schemas.microsoft.com/office/drawing/2014/main" val="1154793705"/>
                    </a:ext>
                  </a:extLst>
                </a:gridCol>
              </a:tblGrid>
              <a:tr h="9389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Plataforma Analizada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Modelo</a:t>
                      </a:r>
                      <a:r>
                        <a:rPr lang="es-ES" sz="140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Distribución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Coste Económico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Curva </a:t>
                      </a: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Aprendizaje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Dependencia </a:t>
                      </a: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Servidor/Nube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Privacidad</a:t>
                      </a:r>
                      <a:r>
                        <a:rPr lang="es-ES" sz="1400" baseline="0" dirty="0" smtClean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s-ES" sz="1400" dirty="0" smtClean="0">
                          <a:solidFill>
                            <a:schemeClr val="tx1"/>
                          </a:solidFill>
                          <a:effectLst/>
                        </a:rPr>
                        <a:t>Dato </a:t>
                      </a: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</a:rPr>
                        <a:t>(Local/Cloud)</a:t>
                      </a:r>
                      <a:endParaRPr lang="es-E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extLst>
                  <a:ext uri="{0D108BD9-81ED-4DB2-BD59-A6C34878D82A}">
                    <a16:rowId xmlns:a16="http://schemas.microsoft.com/office/drawing/2014/main" val="1989388453"/>
                  </a:ext>
                </a:extLst>
              </a:tr>
              <a:tr h="7872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>
                          <a:effectLst/>
                        </a:rPr>
                        <a:t>GLPI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Open Source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Gratuito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Muy Alta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>
                          <a:solidFill>
                            <a:schemeClr val="bg1"/>
                          </a:solidFill>
                          <a:effectLst/>
                        </a:rPr>
                        <a:t>Servidor Web y BD requeridos</a:t>
                      </a:r>
                      <a:endParaRPr lang="es-ES" sz="14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Control total (si se aloja en local)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extLst>
                  <a:ext uri="{0D108BD9-81ED-4DB2-BD59-A6C34878D82A}">
                    <a16:rowId xmlns:a16="http://schemas.microsoft.com/office/drawing/2014/main" val="1800702141"/>
                  </a:ext>
                </a:extLst>
              </a:tr>
              <a:tr h="7872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Jira</a:t>
                      </a:r>
                      <a:r>
                        <a:rPr lang="es-ES" sz="1400" baseline="0" dirty="0" smtClean="0">
                          <a:effectLst/>
                        </a:rPr>
                        <a:t>-</a:t>
                      </a:r>
                      <a:r>
                        <a:rPr lang="es-ES" sz="1400" dirty="0" err="1" smtClean="0">
                          <a:effectLst/>
                        </a:rPr>
                        <a:t>Service</a:t>
                      </a:r>
                      <a:r>
                        <a:rPr lang="es-ES" sz="1400" dirty="0" smtClean="0">
                          <a:effectLst/>
                        </a:rPr>
                        <a:t> </a:t>
                      </a:r>
                      <a:r>
                        <a:rPr lang="es-ES" sz="1400" dirty="0">
                          <a:effectLst/>
                        </a:rPr>
                        <a:t>Management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SaaS (Nube)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Pago-por 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Agente/Mes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Alta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Dependencia total de Internet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Datos en servidores de terceros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extLst>
                  <a:ext uri="{0D108BD9-81ED-4DB2-BD59-A6C34878D82A}">
                    <a16:rowId xmlns:a16="http://schemas.microsoft.com/office/drawing/2014/main" val="317879143"/>
                  </a:ext>
                </a:extLst>
              </a:tr>
              <a:tr h="777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 err="1">
                          <a:effectLst/>
                        </a:rPr>
                        <a:t>Spiceworks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 err="1">
                          <a:solidFill>
                            <a:schemeClr val="bg1"/>
                          </a:solidFill>
                          <a:effectLst/>
                        </a:rPr>
                        <a:t>Freeware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 / Cloud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Gratis(Con 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anuncios)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Media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Dependencia total de Internet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Datos en servidores de terceros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extLst>
                  <a:ext uri="{0D108BD9-81ED-4DB2-BD59-A6C34878D82A}">
                    <a16:rowId xmlns:a16="http://schemas.microsoft.com/office/drawing/2014/main" val="3123127624"/>
                  </a:ext>
                </a:extLst>
              </a:tr>
              <a:tr h="7872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 err="1">
                          <a:effectLst/>
                        </a:rPr>
                        <a:t>osTicket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Open Source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Gratuito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Media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Servidor Web y BD requeridos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Control total (si se aloja en local)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extLst>
                  <a:ext uri="{0D108BD9-81ED-4DB2-BD59-A6C34878D82A}">
                    <a16:rowId xmlns:a16="http://schemas.microsoft.com/office/drawing/2014/main" val="2193767130"/>
                  </a:ext>
                </a:extLst>
              </a:tr>
              <a:tr h="10076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Gestión Incidencias(Este </a:t>
                      </a:r>
                      <a:r>
                        <a:rPr lang="es-ES" sz="1400" dirty="0">
                          <a:effectLst/>
                        </a:rPr>
                        <a:t>proyecto)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Desktop-App 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(Standalone)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>
                          <a:solidFill>
                            <a:schemeClr val="bg1"/>
                          </a:solidFill>
                          <a:effectLst/>
                        </a:rPr>
                        <a:t>Gratuito</a:t>
                      </a:r>
                      <a:endParaRPr lang="es-ES" sz="140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Muy Baja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No requiere servidor ni red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2400"/>
                        </a:spcAft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Privacidad absoluta (Offline)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07" marR="5207" marT="5207" marB="5207" anchor="ctr"/>
                </a:tc>
                <a:extLst>
                  <a:ext uri="{0D108BD9-81ED-4DB2-BD59-A6C34878D82A}">
                    <a16:rowId xmlns:a16="http://schemas.microsoft.com/office/drawing/2014/main" val="224960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83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80006" y="5407688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/>
          <p:cNvSpPr txBox="1"/>
          <p:nvPr/>
        </p:nvSpPr>
        <p:spPr>
          <a:xfrm>
            <a:off x="3410735" y="699959"/>
            <a:ext cx="5987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Metodología</a:t>
            </a:r>
          </a:p>
        </p:txBody>
      </p:sp>
      <p:pic>
        <p:nvPicPr>
          <p:cNvPr id="9" name="Marcador de contenido 8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64067" y="1680952"/>
            <a:ext cx="8534400" cy="333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7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5758" y="5205515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1227908" y="1088571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349828" y="501788"/>
            <a:ext cx="6914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Tecnologías y Herramientas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8" y="1438464"/>
            <a:ext cx="6906260" cy="376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9764" y="6042902"/>
            <a:ext cx="50373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531223" y="-419442"/>
            <a:ext cx="8534400" cy="31100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  <a:p>
            <a:r>
              <a:rPr lang="es-ES" sz="2800" b="1" dirty="0">
                <a:solidFill>
                  <a:schemeClr val="tx1"/>
                </a:solidFill>
              </a:rPr>
              <a:t>Propuesta y Diseño Conceptual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Arquitectura y Backend (Core)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Desarrollo Frontend (Interfaces)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Pruebas, Empaquetado y Documentación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547100" y="0"/>
            <a:ext cx="785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/>
              <a:t>Planificación y diagnóstico</a:t>
            </a:r>
            <a:endParaRPr lang="es-ES" sz="2800" b="1" dirty="0"/>
          </a:p>
        </p:txBody>
      </p:sp>
      <p:pic>
        <p:nvPicPr>
          <p:cNvPr id="8" name="Imagen 7" descr="C:\Users\sbsse\Desktop\DAM\A ENTREGAR\Diagrama de Gantt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22" y="2690601"/>
            <a:ext cx="8200934" cy="3352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318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50566" y="6197700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505097" y="233355"/>
            <a:ext cx="9004662" cy="20357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  <a:p>
            <a:r>
              <a:rPr lang="es-ES" sz="2800" b="1" i="1" dirty="0">
                <a:solidFill>
                  <a:schemeClr val="tx1"/>
                </a:solidFill>
              </a:rPr>
              <a:t>Diagrama de Clases </a:t>
            </a:r>
            <a:endParaRPr lang="es-ES" sz="2800" dirty="0" smtClean="0">
              <a:solidFill>
                <a:schemeClr val="tx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474719" y="379272"/>
            <a:ext cx="553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Análisis</a:t>
            </a:r>
            <a:endParaRPr lang="es-ES" sz="3600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97" y="2269125"/>
            <a:ext cx="8160984" cy="33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3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2" y="4856145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1227908" y="1088571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  <a:p>
            <a:r>
              <a:rPr lang="es-ES" sz="2800" b="1" dirty="0">
                <a:solidFill>
                  <a:schemeClr val="tx1"/>
                </a:solidFill>
              </a:rPr>
              <a:t>Login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Inventario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Incidencia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Resolución</a:t>
            </a:r>
            <a:endParaRPr lang="es-ES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2281646" y="765405"/>
            <a:ext cx="651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 smtClean="0"/>
              <a:t>Demostración en directo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406257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-526279" y="6042438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219858"/>
              </p:ext>
            </p:extLst>
          </p:nvPr>
        </p:nvGraphicFramePr>
        <p:xfrm>
          <a:off x="696686" y="936264"/>
          <a:ext cx="7875980" cy="5238855"/>
        </p:xfrm>
        <a:graphic>
          <a:graphicData uri="http://schemas.openxmlformats.org/drawingml/2006/table">
            <a:tbl>
              <a:tblPr/>
              <a:tblGrid>
                <a:gridCol w="2714826">
                  <a:extLst>
                    <a:ext uri="{9D8B030D-6E8A-4147-A177-3AD203B41FA5}">
                      <a16:colId xmlns:a16="http://schemas.microsoft.com/office/drawing/2014/main" val="1492505756"/>
                    </a:ext>
                  </a:extLst>
                </a:gridCol>
                <a:gridCol w="2714826">
                  <a:extLst>
                    <a:ext uri="{9D8B030D-6E8A-4147-A177-3AD203B41FA5}">
                      <a16:colId xmlns:a16="http://schemas.microsoft.com/office/drawing/2014/main" val="3725498584"/>
                    </a:ext>
                  </a:extLst>
                </a:gridCol>
                <a:gridCol w="2446328">
                  <a:extLst>
                    <a:ext uri="{9D8B030D-6E8A-4147-A177-3AD203B41FA5}">
                      <a16:colId xmlns:a16="http://schemas.microsoft.com/office/drawing/2014/main" val="936049100"/>
                    </a:ext>
                  </a:extLst>
                </a:gridCol>
              </a:tblGrid>
              <a:tr h="589071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Módulo Evaluado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Resumen de Pruebas Realizadas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Resultado</a:t>
                      </a:r>
                    </a:p>
                  </a:txBody>
                  <a:tcPr marL="40939" marR="40939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39172"/>
                  </a:ext>
                </a:extLst>
              </a:tr>
              <a:tr h="103540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Autenticación</a:t>
                      </a:r>
                      <a:endParaRPr lang="es-ES" sz="1600" b="1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Acceso exitoso, bloqueo por campos vacíos e intercepción de intrusiones.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 ÉXITO</a:t>
                      </a:r>
                    </a:p>
                  </a:txBody>
                  <a:tcPr marL="40939" marR="40939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870501"/>
                  </a:ext>
                </a:extLst>
              </a:tr>
              <a:tr h="103540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Equipos (CRUD)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Inserción en tiempo real, borrado </a:t>
                      </a:r>
                      <a:r>
                        <a:rPr lang="es-ES" sz="1600" b="1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y validación de campos obligatorios.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 ÉXITO</a:t>
                      </a:r>
                    </a:p>
                  </a:txBody>
                  <a:tcPr marL="40939" marR="40939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605789"/>
                  </a:ext>
                </a:extLst>
              </a:tr>
              <a:tr h="1258575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Incidencias</a:t>
                      </a:r>
                      <a:endParaRPr lang="es-ES" sz="1600" b="1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Creación de tickets vinculados (FK), prevención de clics nulos y actualización de estados.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 ÉXITO</a:t>
                      </a:r>
                    </a:p>
                  </a:txBody>
                  <a:tcPr marL="40939" marR="40939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784600"/>
                  </a:ext>
                </a:extLst>
              </a:tr>
              <a:tr h="103540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Persistencia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Conservación íntegra de los datos tras el reinicio brusco de la aplicación.</a:t>
                      </a:r>
                    </a:p>
                  </a:txBody>
                  <a:tcPr marL="40939" marR="51173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 ÉXITO</a:t>
                      </a:r>
                    </a:p>
                  </a:txBody>
                  <a:tcPr marL="40939" marR="40939" marT="68231" marB="6823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978113"/>
                  </a:ext>
                </a:extLst>
              </a:tr>
            </a:tbl>
          </a:graphicData>
        </a:graphic>
      </p:graphicFrame>
      <p:sp>
        <p:nvSpPr>
          <p:cNvPr id="2" name="CuadroTexto 1"/>
          <p:cNvSpPr txBox="1"/>
          <p:nvPr/>
        </p:nvSpPr>
        <p:spPr>
          <a:xfrm>
            <a:off x="1445625" y="117067"/>
            <a:ext cx="7710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Despliegue y Pruebas </a:t>
            </a:r>
          </a:p>
        </p:txBody>
      </p:sp>
    </p:spTree>
    <p:extLst>
      <p:ext uri="{BB962C8B-B14F-4D97-AF65-F5344CB8AC3E}">
        <p14:creationId xmlns:p14="http://schemas.microsoft.com/office/powerpoint/2010/main" val="176711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2" y="4856145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67" y="0"/>
            <a:ext cx="2793533" cy="1526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1001485" y="496388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2800" dirty="0">
              <a:solidFill>
                <a:schemeClr val="tx1"/>
              </a:solidFill>
            </a:endParaRPr>
          </a:p>
          <a:p>
            <a:r>
              <a:rPr lang="es-ES" sz="2800" b="1" dirty="0">
                <a:solidFill>
                  <a:schemeClr val="tx1"/>
                </a:solidFill>
              </a:rPr>
              <a:t>Objetivos logrados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Retos superados</a:t>
            </a:r>
          </a:p>
          <a:p>
            <a:r>
              <a:rPr lang="es-ES" sz="2800" b="1" dirty="0">
                <a:solidFill>
                  <a:schemeClr val="tx1"/>
                </a:solidFill>
              </a:rPr>
              <a:t>Valoración personal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3261949" y="765405"/>
            <a:ext cx="553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Conclusiones</a:t>
            </a:r>
            <a:r>
              <a:rPr lang="es-ES" dirty="0"/>
              <a:t> 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108390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-230188" y="5761688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Incidencias</a:t>
            </a:r>
            <a:endParaRPr kumimoji="0" lang="es-ES" altLang="es-ES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 descr="C:\Users\sbsse\Desktop\DAM\reglamento\ILERNA ONLIN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177" y="0"/>
            <a:ext cx="2664823" cy="14543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/>
          <p:cNvSpPr txBox="1"/>
          <p:nvPr/>
        </p:nvSpPr>
        <p:spPr>
          <a:xfrm>
            <a:off x="3326674" y="216765"/>
            <a:ext cx="553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Vías Futuras </a:t>
            </a:r>
            <a:r>
              <a:rPr lang="es-ES" sz="3600" b="1" dirty="0" smtClean="0"/>
              <a:t> </a:t>
            </a:r>
            <a:endParaRPr lang="es-ES" sz="3600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60" y="1102283"/>
            <a:ext cx="9083399" cy="434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1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943497" y="1933303"/>
            <a:ext cx="5817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b="1" dirty="0" smtClean="0"/>
              <a:t>FIN…</a:t>
            </a:r>
            <a:endParaRPr lang="es-ES" sz="6600" b="1" dirty="0"/>
          </a:p>
        </p:txBody>
      </p:sp>
    </p:spTree>
    <p:extLst>
      <p:ext uri="{BB962C8B-B14F-4D97-AF65-F5344CB8AC3E}">
        <p14:creationId xmlns:p14="http://schemas.microsoft.com/office/powerpoint/2010/main" val="145431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148</TotalTime>
  <Words>299</Words>
  <Application>Microsoft Office PowerPoint</Application>
  <PresentationFormat>Panorámica</PresentationFormat>
  <Paragraphs>112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Sector</vt:lpstr>
      <vt:lpstr>Gestión Incidencias</vt:lpstr>
      <vt:lpstr>Gestión Incidencias</vt:lpstr>
      <vt:lpstr>Gestión Incidencias</vt:lpstr>
      <vt:lpstr>Gestión Incidencias</vt:lpstr>
      <vt:lpstr>Gestión Incidencias</vt:lpstr>
      <vt:lpstr>Gestión Incidencias</vt:lpstr>
      <vt:lpstr>Gestión Incidencias</vt:lpstr>
      <vt:lpstr>Gestión Incidencias</vt:lpstr>
      <vt:lpstr>Gestión Incidencias</vt:lpstr>
      <vt:lpstr>Gestión Incidencias</vt:lpstr>
      <vt:lpstr>Gestión Incidencias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Incidencias</dc:title>
  <dc:creator>SBS Sebas</dc:creator>
  <cp:lastModifiedBy>SBS Sebas</cp:lastModifiedBy>
  <cp:revision>27</cp:revision>
  <dcterms:created xsi:type="dcterms:W3CDTF">2026-04-02T16:58:22Z</dcterms:created>
  <dcterms:modified xsi:type="dcterms:W3CDTF">2026-04-04T20:43:40Z</dcterms:modified>
</cp:coreProperties>
</file>